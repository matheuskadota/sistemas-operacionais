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6" r:id="rId11"/>
    <p:sldId id="272" r:id="rId12"/>
  </p:sldIdLst>
  <p:sldSz cx="9144000" cy="5143500" type="screen16x9"/>
  <p:notesSz cx="6858000" cy="9144000"/>
  <p:embeddedFontLst>
    <p:embeddedFont>
      <p:font typeface="Raleway" panose="020B0604020202020204" charset="0"/>
      <p:regular r:id="rId14"/>
      <p:bold r:id="rId15"/>
    </p:embeddedFont>
    <p:embeddedFont>
      <p:font typeface="Hanken Grotesk" panose="020B0604020202020204" charset="0"/>
      <p:regular r:id="rId16"/>
      <p:bold r:id="rId17"/>
      <p:italic r:id="rId18"/>
      <p:boldItalic r:id="rId19"/>
    </p:embeddedFont>
    <p:embeddedFont>
      <p:font typeface="Roboto Mon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6" dt="2026-09-13T19:34:20.918"/>
    <p1510:client id="{640083FF-EB44-813C-C6E0-9188811C4F29}" v="293" dt="2026-09-13T20:29:44.612"/>
    <p1510:client id="{7D0293B2-120D-400E-95BD-A6863A2B8ED4}" v="272" dt="2026-09-14T00:06:06.553"/>
    <p1510:client id="{C8FEA250-0881-480B-8EC4-86B0669196AF}" v="198" dt="2026-09-13T22:40:43.935"/>
  </p1510:revLst>
</p1510:revInfo>
</file>

<file path=ppt/tableStyles.xml><?xml version="1.0" encoding="utf-8"?>
<a:tblStyleLst xmlns:a="http://schemas.openxmlformats.org/drawingml/2006/main" def="{E9B8454B-5764-4BB1-AD28-139B763AD529}">
  <a:tblStyle styleId="{E9B8454B-5764-4BB1-AD28-139B763AD5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s" userId="186d73d178ea677d" providerId="LiveId" clId="{C886CCBD-E915-4E52-ACD4-A5423F6A8C33}"/>
    <pc:docChg chg="undo custSel modSld">
      <pc:chgData name="marcos s" userId="186d73d178ea677d" providerId="LiveId" clId="{C886CCBD-E915-4E52-ACD4-A5423F6A8C33}" dt="2026-09-14T00:06:06.553" v="541"/>
      <pc:docMkLst>
        <pc:docMk/>
      </pc:docMkLst>
      <pc:sldChg chg="addSp delSp modSp mod modTransition addAnim delAnim modAnim">
        <pc:chgData name="marcos s" userId="186d73d178ea677d" providerId="LiveId" clId="{C886CCBD-E915-4E52-ACD4-A5423F6A8C33}" dt="2026-09-13T23:59:13.535" v="518"/>
        <pc:sldMkLst>
          <pc:docMk/>
          <pc:sldMk cId="0" sldId="256"/>
        </pc:sldMkLst>
        <pc:spChg chg="add del mod">
          <ac:chgData name="marcos s" userId="186d73d178ea677d" providerId="LiveId" clId="{C886CCBD-E915-4E52-ACD4-A5423F6A8C33}" dt="2026-09-13T22:15:16.596" v="100"/>
          <ac:spMkLst>
            <pc:docMk/>
            <pc:sldMk cId="0" sldId="256"/>
            <ac:spMk id="2" creationId="{1753A8C0-68AD-F518-6F5E-D42D8AB54D76}"/>
          </ac:spMkLst>
        </pc:spChg>
        <pc:spChg chg="add del mod">
          <ac:chgData name="marcos s" userId="186d73d178ea677d" providerId="LiveId" clId="{C886CCBD-E915-4E52-ACD4-A5423F6A8C33}" dt="2026-09-13T22:24:09.556" v="134" actId="478"/>
          <ac:spMkLst>
            <pc:docMk/>
            <pc:sldMk cId="0" sldId="256"/>
            <ac:spMk id="3" creationId="{0D95CA53-EBFC-0F62-5F47-1A2451B7D96D}"/>
          </ac:spMkLst>
        </pc:spChg>
        <pc:spChg chg="mod">
          <ac:chgData name="marcos s" userId="186d73d178ea677d" providerId="LiveId" clId="{C886CCBD-E915-4E52-ACD4-A5423F6A8C33}" dt="2026-09-13T22:02:33.451" v="70" actId="207"/>
          <ac:spMkLst>
            <pc:docMk/>
            <pc:sldMk cId="0" sldId="256"/>
            <ac:spMk id="180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33:01.902" v="459" actId="1076"/>
          <ac:picMkLst>
            <pc:docMk/>
            <pc:sldMk cId="0" sldId="256"/>
            <ac:picMk id="3" creationId="{1E0D5756-687E-6550-9A55-0E5AD86FAD46}"/>
          </ac:picMkLst>
        </pc:picChg>
        <pc:picChg chg="add del mod">
          <ac:chgData name="marcos s" userId="186d73d178ea677d" providerId="LiveId" clId="{C886CCBD-E915-4E52-ACD4-A5423F6A8C33}" dt="2026-09-13T23:02:11.116" v="313" actId="478"/>
          <ac:picMkLst>
            <pc:docMk/>
            <pc:sldMk cId="0" sldId="256"/>
            <ac:picMk id="4" creationId="{FEF42E31-9955-9256-9F4B-A13E00EFECE2}"/>
          </ac:picMkLst>
        </pc:picChg>
        <pc:picChg chg="add del mod">
          <ac:chgData name="marcos s" userId="186d73d178ea677d" providerId="LiveId" clId="{C886CCBD-E915-4E52-ACD4-A5423F6A8C33}" dt="2026-09-13T22:52:35.792" v="274" actId="478"/>
          <ac:picMkLst>
            <pc:docMk/>
            <pc:sldMk cId="0" sldId="256"/>
            <ac:picMk id="5" creationId="{9812F15B-C770-7386-EE72-EBB95C5D3A1F}"/>
          </ac:picMkLst>
        </pc:picChg>
        <pc:picChg chg="add del mod">
          <ac:chgData name="marcos s" userId="186d73d178ea677d" providerId="LiveId" clId="{C886CCBD-E915-4E52-ACD4-A5423F6A8C33}" dt="2026-09-13T22:48:49.311" v="260" actId="1076"/>
          <ac:picMkLst>
            <pc:docMk/>
            <pc:sldMk cId="0" sldId="256"/>
            <ac:picMk id="179" creationId="{00000000-0000-0000-0000-000000000000}"/>
          </ac:picMkLst>
        </pc:picChg>
      </pc:sldChg>
      <pc:sldChg chg="addSp modSp mod modTransition modAnim">
        <pc:chgData name="marcos s" userId="186d73d178ea677d" providerId="LiveId" clId="{C886CCBD-E915-4E52-ACD4-A5423F6A8C33}" dt="2026-09-13T23:54:59.932" v="474"/>
        <pc:sldMkLst>
          <pc:docMk/>
          <pc:sldMk cId="0" sldId="257"/>
        </pc:sldMkLst>
        <pc:spChg chg="mod">
          <ac:chgData name="marcos s" userId="186d73d178ea677d" providerId="LiveId" clId="{C886CCBD-E915-4E52-ACD4-A5423F6A8C33}" dt="2026-09-13T22:24:30.884" v="137" actId="207"/>
          <ac:spMkLst>
            <pc:docMk/>
            <pc:sldMk cId="0" sldId="257"/>
            <ac:spMk id="187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13:16.118" v="369"/>
          <ac:picMkLst>
            <pc:docMk/>
            <pc:sldMk cId="0" sldId="257"/>
            <ac:picMk id="3" creationId="{6D551BF6-17EF-7EC9-FA47-EE55CD879E98}"/>
          </ac:picMkLst>
        </pc:picChg>
      </pc:sldChg>
      <pc:sldChg chg="addSp modSp mod modTransition modAnim">
        <pc:chgData name="marcos s" userId="186d73d178ea677d" providerId="LiveId" clId="{C886CCBD-E915-4E52-ACD4-A5423F6A8C33}" dt="2026-09-14T00:00:04.627" v="519"/>
        <pc:sldMkLst>
          <pc:docMk/>
          <pc:sldMk cId="0" sldId="258"/>
        </pc:sldMkLst>
        <pc:spChg chg="mod">
          <ac:chgData name="marcos s" userId="186d73d178ea677d" providerId="LiveId" clId="{C886CCBD-E915-4E52-ACD4-A5423F6A8C33}" dt="2026-09-13T22:27:29.699" v="149" actId="207"/>
          <ac:spMkLst>
            <pc:docMk/>
            <pc:sldMk cId="0" sldId="258"/>
            <ac:spMk id="228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28:02.854" v="426"/>
          <ac:picMkLst>
            <pc:docMk/>
            <pc:sldMk cId="0" sldId="258"/>
            <ac:picMk id="2" creationId="{0031669D-6866-137C-37AE-6DDB6222869F}"/>
          </ac:picMkLst>
        </pc:picChg>
        <pc:picChg chg="add mod">
          <ac:chgData name="marcos s" userId="186d73d178ea677d" providerId="LiveId" clId="{C886CCBD-E915-4E52-ACD4-A5423F6A8C33}" dt="2026-09-13T23:55:19.408" v="475"/>
          <ac:picMkLst>
            <pc:docMk/>
            <pc:sldMk cId="0" sldId="258"/>
            <ac:picMk id="3" creationId="{E36B105A-B7C1-61C3-8A98-664B4DD407EB}"/>
          </ac:picMkLst>
        </pc:picChg>
      </pc:sldChg>
      <pc:sldChg chg="addSp modSp mod modTransition modAnim">
        <pc:chgData name="marcos s" userId="186d73d178ea677d" providerId="LiveId" clId="{C886CCBD-E915-4E52-ACD4-A5423F6A8C33}" dt="2026-09-13T23:56:07.601" v="485"/>
        <pc:sldMkLst>
          <pc:docMk/>
          <pc:sldMk cId="0" sldId="259"/>
        </pc:sldMkLst>
        <pc:spChg chg="mod">
          <ac:chgData name="marcos s" userId="186d73d178ea677d" providerId="LiveId" clId="{C886CCBD-E915-4E52-ACD4-A5423F6A8C33}" dt="2026-09-13T22:29:47.003" v="161" actId="207"/>
          <ac:spMkLst>
            <pc:docMk/>
            <pc:sldMk cId="0" sldId="259"/>
            <ac:spMk id="250" creationId="{00000000-0000-0000-0000-000000000000}"/>
          </ac:spMkLst>
        </pc:spChg>
        <pc:spChg chg="mod">
          <ac:chgData name="marcos s" userId="186d73d178ea677d" providerId="LiveId" clId="{C886CCBD-E915-4E52-ACD4-A5423F6A8C33}" dt="2026-09-13T22:30:12.106" v="166" actId="15"/>
          <ac:spMkLst>
            <pc:docMk/>
            <pc:sldMk cId="0" sldId="259"/>
            <ac:spMk id="251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28:16.655" v="427"/>
          <ac:picMkLst>
            <pc:docMk/>
            <pc:sldMk cId="0" sldId="259"/>
            <ac:picMk id="2" creationId="{BD77FCDF-D234-556A-D456-ABE94114E5AE}"/>
          </ac:picMkLst>
        </pc:picChg>
      </pc:sldChg>
      <pc:sldChg chg="addSp delSp modSp mod modTransition addAnim delAnim modAnim">
        <pc:chgData name="marcos s" userId="186d73d178ea677d" providerId="LiveId" clId="{C886CCBD-E915-4E52-ACD4-A5423F6A8C33}" dt="2026-09-13T23:56:48.406" v="493"/>
        <pc:sldMkLst>
          <pc:docMk/>
          <pc:sldMk cId="0" sldId="261"/>
        </pc:sldMkLst>
        <pc:spChg chg="mod">
          <ac:chgData name="marcos s" userId="186d73d178ea677d" providerId="LiveId" clId="{C886CCBD-E915-4E52-ACD4-A5423F6A8C33}" dt="2026-09-13T22:31:03.615" v="175" actId="207"/>
          <ac:spMkLst>
            <pc:docMk/>
            <pc:sldMk cId="0" sldId="261"/>
            <ac:spMk id="270" creationId="{00000000-0000-0000-0000-000000000000}"/>
          </ac:spMkLst>
        </pc:spChg>
        <pc:picChg chg="add del mod">
          <ac:chgData name="marcos s" userId="186d73d178ea677d" providerId="LiveId" clId="{C886CCBD-E915-4E52-ACD4-A5423F6A8C33}" dt="2026-09-13T23:33:22.988" v="461" actId="478"/>
          <ac:picMkLst>
            <pc:docMk/>
            <pc:sldMk cId="0" sldId="261"/>
            <ac:picMk id="2" creationId="{14E9B740-2620-3556-ED93-ED36D16A3779}"/>
          </ac:picMkLst>
        </pc:picChg>
      </pc:sldChg>
      <pc:sldChg chg="addSp modSp mod modTransition modAnim">
        <pc:chgData name="marcos s" userId="186d73d178ea677d" providerId="LiveId" clId="{C886CCBD-E915-4E52-ACD4-A5423F6A8C33}" dt="2026-09-13T23:57:05.789" v="497"/>
        <pc:sldMkLst>
          <pc:docMk/>
          <pc:sldMk cId="0" sldId="262"/>
        </pc:sldMkLst>
        <pc:spChg chg="mod">
          <ac:chgData name="marcos s" userId="186d73d178ea677d" providerId="LiveId" clId="{C886CCBD-E915-4E52-ACD4-A5423F6A8C33}" dt="2026-09-13T22:31:38.894" v="183" actId="207"/>
          <ac:spMkLst>
            <pc:docMk/>
            <pc:sldMk cId="0" sldId="262"/>
            <ac:spMk id="276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28:20.580" v="430"/>
          <ac:picMkLst>
            <pc:docMk/>
            <pc:sldMk cId="0" sldId="262"/>
            <ac:picMk id="2" creationId="{89364FD9-C907-DA4C-A8DD-CD8EB9DC4C83}"/>
          </ac:picMkLst>
        </pc:picChg>
      </pc:sldChg>
      <pc:sldChg chg="addSp modSp mod modTransition modAnim">
        <pc:chgData name="marcos s" userId="186d73d178ea677d" providerId="LiveId" clId="{C886CCBD-E915-4E52-ACD4-A5423F6A8C33}" dt="2026-09-13T23:57:23.700" v="501"/>
        <pc:sldMkLst>
          <pc:docMk/>
          <pc:sldMk cId="0" sldId="263"/>
        </pc:sldMkLst>
        <pc:spChg chg="mod">
          <ac:chgData name="marcos s" userId="186d73d178ea677d" providerId="LiveId" clId="{C886CCBD-E915-4E52-ACD4-A5423F6A8C33}" dt="2026-09-13T22:32:13.396" v="191" actId="207"/>
          <ac:spMkLst>
            <pc:docMk/>
            <pc:sldMk cId="0" sldId="263"/>
            <ac:spMk id="285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28:22.127" v="431"/>
          <ac:picMkLst>
            <pc:docMk/>
            <pc:sldMk cId="0" sldId="263"/>
            <ac:picMk id="2" creationId="{8C8EB135-3BE1-93B1-4BC3-09CB00388925}"/>
          </ac:picMkLst>
        </pc:picChg>
      </pc:sldChg>
      <pc:sldChg chg="addSp modSp mod modTransition modAnim">
        <pc:chgData name="marcos s" userId="186d73d178ea677d" providerId="LiveId" clId="{C886CCBD-E915-4E52-ACD4-A5423F6A8C33}" dt="2026-09-13T23:57:40.763" v="505"/>
        <pc:sldMkLst>
          <pc:docMk/>
          <pc:sldMk cId="0" sldId="264"/>
        </pc:sldMkLst>
        <pc:spChg chg="mod">
          <ac:chgData name="marcos s" userId="186d73d178ea677d" providerId="LiveId" clId="{C886CCBD-E915-4E52-ACD4-A5423F6A8C33}" dt="2026-09-13T22:32:48.026" v="198" actId="207"/>
          <ac:spMkLst>
            <pc:docMk/>
            <pc:sldMk cId="0" sldId="264"/>
            <ac:spMk id="297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28:23.069" v="432"/>
          <ac:picMkLst>
            <pc:docMk/>
            <pc:sldMk cId="0" sldId="264"/>
            <ac:picMk id="2" creationId="{569447C8-219F-1F91-B9CC-4746E8A8F9A0}"/>
          </ac:picMkLst>
        </pc:picChg>
      </pc:sldChg>
      <pc:sldChg chg="addSp modSp mod modTransition modAnim">
        <pc:chgData name="marcos s" userId="186d73d178ea677d" providerId="LiveId" clId="{C886CCBD-E915-4E52-ACD4-A5423F6A8C33}" dt="2026-09-13T23:57:58.411" v="509"/>
        <pc:sldMkLst>
          <pc:docMk/>
          <pc:sldMk cId="0" sldId="266"/>
        </pc:sldMkLst>
        <pc:spChg chg="mod">
          <ac:chgData name="marcos s" userId="186d73d178ea677d" providerId="LiveId" clId="{C886CCBD-E915-4E52-ACD4-A5423F6A8C33}" dt="2026-09-13T22:33:21.720" v="204" actId="207"/>
          <ac:spMkLst>
            <pc:docMk/>
            <pc:sldMk cId="0" sldId="266"/>
            <ac:spMk id="320" creationId="{00000000-0000-0000-0000-000000000000}"/>
          </ac:spMkLst>
        </pc:spChg>
        <pc:picChg chg="add mod">
          <ac:chgData name="marcos s" userId="186d73d178ea677d" providerId="LiveId" clId="{C886CCBD-E915-4E52-ACD4-A5423F6A8C33}" dt="2026-09-13T23:28:24.033" v="433"/>
          <ac:picMkLst>
            <pc:docMk/>
            <pc:sldMk cId="0" sldId="266"/>
            <ac:picMk id="3" creationId="{BF1C9734-ECD7-42ED-94C4-B8F5A236F204}"/>
          </ac:picMkLst>
        </pc:picChg>
      </pc:sldChg>
      <pc:sldChg chg="addSp modSp mod modTransition modAnim">
        <pc:chgData name="marcos s" userId="186d73d178ea677d" providerId="LiveId" clId="{C886CCBD-E915-4E52-ACD4-A5423F6A8C33}" dt="2026-09-13T23:56:28.191" v="489"/>
        <pc:sldMkLst>
          <pc:docMk/>
          <pc:sldMk cId="576413122" sldId="270"/>
        </pc:sldMkLst>
        <pc:spChg chg="mod">
          <ac:chgData name="marcos s" userId="186d73d178ea677d" providerId="LiveId" clId="{C886CCBD-E915-4E52-ACD4-A5423F6A8C33}" dt="2026-09-13T22:30:34.472" v="169" actId="207"/>
          <ac:spMkLst>
            <pc:docMk/>
            <pc:sldMk cId="576413122" sldId="270"/>
            <ac:spMk id="250" creationId="{8F0A7398-6EC8-359F-753B-BA3C7AF871CA}"/>
          </ac:spMkLst>
        </pc:spChg>
        <pc:picChg chg="add mod">
          <ac:chgData name="marcos s" userId="186d73d178ea677d" providerId="LiveId" clId="{C886CCBD-E915-4E52-ACD4-A5423F6A8C33}" dt="2026-09-13T23:28:18.413" v="428"/>
          <ac:picMkLst>
            <pc:docMk/>
            <pc:sldMk cId="576413122" sldId="270"/>
            <ac:picMk id="2" creationId="{B1F3246B-33A7-4A4D-FB10-6D688C18F371}"/>
          </ac:picMkLst>
        </pc:picChg>
      </pc:sldChg>
      <pc:sldChg chg="modSp mod modTransition addAnim delAnim modAnim">
        <pc:chgData name="marcos s" userId="186d73d178ea677d" providerId="LiveId" clId="{C886CCBD-E915-4E52-ACD4-A5423F6A8C33}" dt="2026-09-14T00:06:06.553" v="541"/>
        <pc:sldMkLst>
          <pc:docMk/>
          <pc:sldMk cId="2303232407" sldId="272"/>
        </pc:sldMkLst>
        <pc:spChg chg="mod">
          <ac:chgData name="marcos s" userId="186d73d178ea677d" providerId="LiveId" clId="{C886CCBD-E915-4E52-ACD4-A5423F6A8C33}" dt="2026-09-14T00:02:30.980" v="521" actId="207"/>
          <ac:spMkLst>
            <pc:docMk/>
            <pc:sldMk cId="2303232407" sldId="272"/>
            <ac:spMk id="5" creationId="{9F369A52-F81E-EE29-9421-633CFE0BAA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6dfe6d78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C1CC6092-E48B-0804-7E74-36CF46C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>
            <a:extLst>
              <a:ext uri="{FF2B5EF4-FFF2-40B4-BE49-F238E27FC236}">
                <a16:creationId xmlns:a16="http://schemas.microsoft.com/office/drawing/2014/main" id="{DA9A093D-2019-4456-FF4E-49021F6BA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>
            <a:extLst>
              <a:ext uri="{FF2B5EF4-FFF2-40B4-BE49-F238E27FC236}">
                <a16:creationId xmlns:a16="http://schemas.microsoft.com/office/drawing/2014/main" id="{DAED381A-4990-7EB2-180C-19C9A7F939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132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fb61485a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fb61485a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A0E6FC55-1B3B-8F66-549B-1C223156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>
            <a:extLst>
              <a:ext uri="{FF2B5EF4-FFF2-40B4-BE49-F238E27FC236}">
                <a16:creationId xmlns:a16="http://schemas.microsoft.com/office/drawing/2014/main" id="{E3E4C412-72F4-6809-D82F-DDB57D7DB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>
            <a:extLst>
              <a:ext uri="{FF2B5EF4-FFF2-40B4-BE49-F238E27FC236}">
                <a16:creationId xmlns:a16="http://schemas.microsoft.com/office/drawing/2014/main" id="{69415413-D2C6-6920-1DD7-5091DFCF7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0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3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Google Shape;20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3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2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5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 hasCustomPrompt="1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6" hasCustomPrompt="1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7" hasCustomPrompt="1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8" hasCustomPrompt="1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9" hasCustomPrompt="1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>
            <a:spLocks noGrp="1"/>
          </p:cNvSpPr>
          <p:nvPr>
            <p:ph type="subTitle" idx="1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2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3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 hasCustomPrompt="1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 idx="4" hasCustomPrompt="1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 idx="5" hasCustomPrompt="1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26" name="Google Shape;126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>
            <a:spLocks noGrp="1"/>
          </p:cNvSpPr>
          <p:nvPr>
            <p:ph type="subTitle" idx="1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2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3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4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5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6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 idx="7" hasCustomPrompt="1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 idx="8" hasCustomPrompt="1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 idx="9" hasCustomPrompt="1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13" hasCustomPrompt="1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 idx="14" hasCustomPrompt="1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 idx="15" hasCustomPrompt="1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42" name="Google Shape;142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>
            <a:spLocks noGrp="1"/>
          </p:cNvSpPr>
          <p:nvPr>
            <p:ph type="title" hasCustomPrompt="1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2" hasCustomPrompt="1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3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l="19763" t="14676" r="19447" b="47107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xabay.com/es/cursor-dedo-mano-hiperv%C3%ADnculo-154478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pixabay.com/es/cursor-dedo-mano-hiperv%C3%ADnculo-154478/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descr="nature-landscape-with-vegetation-flora.jpg" title="nature-landscape-with-vegetation-flora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/>
          <a:srcRect t="3240" b="3240"/>
          <a:stretch/>
        </p:blipFill>
        <p:spPr>
          <a:xfrm>
            <a:off x="5813313" y="1340888"/>
            <a:ext cx="2823739" cy="2648200"/>
          </a:xfrm>
          <a:prstGeom prst="rect">
            <a:avLst/>
          </a:prstGeom>
        </p:spPr>
      </p:pic>
      <p:sp>
        <p:nvSpPr>
          <p:cNvPr id="180" name="Google Shape;180;p28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000" dirty="0">
                <a:latin typeface="Times New Roman"/>
                <a:cs typeface="Times New Roman"/>
              </a:rPr>
              <a:t/>
            </a:r>
            <a:br>
              <a:rPr lang="en" sz="4000" dirty="0">
                <a:latin typeface="Times New Roman"/>
                <a:cs typeface="Times New Roman"/>
              </a:rPr>
            </a:br>
            <a:r>
              <a:rPr lang="en" sz="4000" dirty="0">
                <a:solidFill>
                  <a:schemeClr val="accent1"/>
                </a:solidFill>
                <a:latin typeface="Times New Roman"/>
                <a:cs typeface="Times New Roman"/>
              </a:rPr>
              <a:t>Apresentação sobre o</a:t>
            </a:r>
            <a:br>
              <a:rPr lang="en" sz="4000" dirty="0">
                <a:solidFill>
                  <a:schemeClr val="accent1"/>
                </a:solidFill>
                <a:latin typeface="Times New Roman"/>
                <a:cs typeface="Times New Roman"/>
              </a:rPr>
            </a:br>
            <a:r>
              <a:rPr lang="en" sz="4000" dirty="0">
                <a:solidFill>
                  <a:schemeClr val="accent1"/>
                </a:solidFill>
                <a:latin typeface="Times New Roman"/>
                <a:cs typeface="Times New Roman"/>
              </a:rPr>
              <a:t>Linux Mint</a:t>
            </a:r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500" dirty="0">
                <a:latin typeface="Arial"/>
                <a:cs typeface="Arial"/>
              </a:rPr>
              <a:t>Alunos: Gabriel Toledo, Karl Santos,</a:t>
            </a:r>
            <a:br>
              <a:rPr lang="en" sz="1500" dirty="0">
                <a:latin typeface="Arial"/>
                <a:cs typeface="Arial"/>
              </a:rPr>
            </a:br>
            <a:r>
              <a:rPr lang="en" sz="1500" dirty="0">
                <a:latin typeface="Arial"/>
                <a:cs typeface="Arial"/>
              </a:rPr>
              <a:t>Marcos Silva, Enzo Vieira, Vinicius Munhoz, Matheus Kadota.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0D5756-687E-6550-9A55-0E5AD86FAD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295 -0.03981 L -0.57795 -0.03981 C -0.65712 -0.03981 -0.75295 0.05772 -0.75295 0.13673 L -0.75295 0.31389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00" y="1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2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9191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9191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6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5278 0.3142 L -0.70139 0.4179 C -0.68993 0.4392 -0.68351 0.47223 -0.68351 0.50556 C -0.68351 0.54506 -0.68993 0.57562 -0.70139 0.59753 L -0.75278 0.70155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2" y="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60"/>
                            </p:stCondLst>
                            <p:childTnLst>
                              <p:par>
                                <p:cTn id="2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6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60"/>
                            </p:stCondLst>
                            <p:childTnLst>
                              <p:par>
                                <p:cTn id="28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5295 0.70124 L -0.54687 0.70124 C -0.45451 0.70124 -0.34045 0.79815 -0.34045 0.87284 L -0.34045 1.03334 " pathEditMode="relative" rAng="0" ptsTypes="AAAA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16605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8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>
                <a:solidFill>
                  <a:schemeClr val="accent2"/>
                </a:solidFill>
                <a:latin typeface="Times New Roman"/>
                <a:cs typeface="Times New Roman"/>
              </a:rPr>
              <a:t>Introdução</a:t>
            </a:r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 e Filosofia do Sistema</a:t>
            </a:r>
            <a:endParaRPr lang="en-US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0" y="4801425"/>
            <a:ext cx="9144000" cy="34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F5ADD-B2FA-0B56-9E13-C6B7D3E7A626}"/>
              </a:ext>
            </a:extLst>
          </p:cNvPr>
          <p:cNvSpPr txBox="1"/>
          <p:nvPr/>
        </p:nvSpPr>
        <p:spPr>
          <a:xfrm>
            <a:off x="500062" y="1643062"/>
            <a:ext cx="8016875" cy="23852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Roboto Mono"/>
              </a:rPr>
              <a:t>O </a:t>
            </a:r>
            <a:r>
              <a:rPr lang="en-US" sz="1500" b="1" dirty="0">
                <a:ea typeface="Roboto Mono"/>
              </a:rPr>
              <a:t>Linux Mint</a:t>
            </a:r>
            <a:r>
              <a:rPr lang="en-US" sz="1500" dirty="0">
                <a:ea typeface="Roboto Mono"/>
              </a:rPr>
              <a:t> é </a:t>
            </a:r>
            <a:r>
              <a:rPr lang="en-US" sz="1500" dirty="0" err="1">
                <a:ea typeface="Roboto Mono"/>
              </a:rPr>
              <a:t>uma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distribuição</a:t>
            </a:r>
            <a:r>
              <a:rPr lang="en-US" sz="1500" dirty="0">
                <a:ea typeface="Roboto Mono"/>
              </a:rPr>
              <a:t> (</a:t>
            </a:r>
            <a:r>
              <a:rPr lang="en-US" sz="1500" dirty="0" err="1">
                <a:ea typeface="Roboto Mono"/>
              </a:rPr>
              <a:t>ou</a:t>
            </a:r>
            <a:r>
              <a:rPr lang="en-US" sz="1500" dirty="0">
                <a:ea typeface="Roboto Mono"/>
              </a:rPr>
              <a:t> "distro") do </a:t>
            </a:r>
            <a:r>
              <a:rPr lang="en-US" sz="1500" dirty="0" err="1">
                <a:ea typeface="Roboto Mono"/>
              </a:rPr>
              <a:t>sistema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operacional</a:t>
            </a:r>
            <a:r>
              <a:rPr lang="en-US" sz="1500" dirty="0">
                <a:ea typeface="Roboto Mono"/>
              </a:rPr>
              <a:t> GNU/Linux. Seu principal </a:t>
            </a:r>
            <a:r>
              <a:rPr lang="en-US" sz="1500" dirty="0" err="1">
                <a:ea typeface="Roboto Mono"/>
              </a:rPr>
              <a:t>diferencial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em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relação</a:t>
            </a:r>
            <a:r>
              <a:rPr lang="en-US" sz="1500" dirty="0">
                <a:ea typeface="Roboto Mono"/>
              </a:rPr>
              <a:t> a outros </a:t>
            </a:r>
            <a:r>
              <a:rPr lang="en-US" sz="1500" dirty="0" err="1">
                <a:ea typeface="Roboto Mono"/>
              </a:rPr>
              <a:t>sistemas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operacionais</a:t>
            </a:r>
            <a:r>
              <a:rPr lang="en-US" sz="1500" dirty="0">
                <a:ea typeface="Roboto Mono"/>
              </a:rPr>
              <a:t> é a </a:t>
            </a:r>
            <a:r>
              <a:rPr lang="en-US" sz="1500" dirty="0" err="1">
                <a:ea typeface="Roboto Mono"/>
              </a:rPr>
              <a:t>sua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filosofia</a:t>
            </a:r>
            <a:r>
              <a:rPr lang="en-US" sz="1500" dirty="0">
                <a:ea typeface="Roboto Mono"/>
              </a:rPr>
              <a:t> de design: o </a:t>
            </a:r>
            <a:r>
              <a:rPr lang="en-US" sz="1500" dirty="0" err="1">
                <a:ea typeface="Roboto Mono"/>
              </a:rPr>
              <a:t>foco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implacável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na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usabilidade</a:t>
            </a:r>
            <a:r>
              <a:rPr lang="en-US" sz="1500" dirty="0">
                <a:ea typeface="Roboto Mono"/>
              </a:rPr>
              <a:t>, no </a:t>
            </a:r>
            <a:r>
              <a:rPr lang="en-US" sz="1500" dirty="0" err="1">
                <a:ea typeface="Roboto Mono"/>
              </a:rPr>
              <a:t>conforto</a:t>
            </a:r>
            <a:r>
              <a:rPr lang="en-US" sz="1500" dirty="0">
                <a:ea typeface="Roboto Mono"/>
              </a:rPr>
              <a:t> e </a:t>
            </a:r>
            <a:r>
              <a:rPr lang="en-US" sz="1500" dirty="0" err="1">
                <a:ea typeface="Roboto Mono"/>
              </a:rPr>
              <a:t>na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entrega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dirty="0" err="1">
                <a:ea typeface="Roboto Mono"/>
              </a:rPr>
              <a:t>uma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experiência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que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funcione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perfeitamente</a:t>
            </a:r>
            <a:r>
              <a:rPr lang="en-US" sz="1500" dirty="0">
                <a:ea typeface="Roboto Mono"/>
              </a:rPr>
              <a:t> logo </a:t>
            </a:r>
            <a:r>
              <a:rPr lang="en-US" sz="1500" dirty="0" err="1">
                <a:ea typeface="Roboto Mono"/>
              </a:rPr>
              <a:t>após</a:t>
            </a:r>
            <a:r>
              <a:rPr lang="en-US" sz="1500" dirty="0">
                <a:ea typeface="Roboto Mono"/>
              </a:rPr>
              <a:t> a </a:t>
            </a:r>
            <a:r>
              <a:rPr lang="en-US" sz="1500" dirty="0" err="1">
                <a:ea typeface="Roboto Mono"/>
              </a:rPr>
              <a:t>instalação</a:t>
            </a:r>
            <a:r>
              <a:rPr lang="en-US" sz="1500" dirty="0">
                <a:ea typeface="Roboto Mono"/>
              </a:rPr>
              <a:t> (o </a:t>
            </a:r>
            <a:r>
              <a:rPr lang="en-US" sz="1500" dirty="0" err="1">
                <a:ea typeface="Roboto Mono"/>
              </a:rPr>
              <a:t>conceito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i="1" dirty="0">
                <a:ea typeface="Roboto Mono"/>
              </a:rPr>
              <a:t>out-of-the-box</a:t>
            </a:r>
            <a:r>
              <a:rPr lang="en-US" sz="1500" dirty="0">
                <a:ea typeface="Roboto Mono"/>
              </a:rPr>
              <a:t>).</a:t>
            </a:r>
            <a:br>
              <a:rPr lang="en-US" sz="1500" dirty="0">
                <a:ea typeface="Roboto Mono"/>
              </a:rPr>
            </a:br>
            <a:endParaRPr lang="en-US" sz="1500" dirty="0">
              <a:ea typeface="Roboto Mono"/>
            </a:endParaRPr>
          </a:p>
          <a:p>
            <a:r>
              <a:rPr lang="en-US" sz="1500" dirty="0" err="1">
                <a:ea typeface="Roboto Mono"/>
              </a:rPr>
              <a:t>Diferente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dirty="0" err="1">
                <a:ea typeface="Roboto Mono"/>
              </a:rPr>
              <a:t>distribuições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voltadas</a:t>
            </a:r>
            <a:r>
              <a:rPr lang="en-US" sz="1500" dirty="0">
                <a:ea typeface="Roboto Mono"/>
              </a:rPr>
              <a:t> para </a:t>
            </a:r>
            <a:r>
              <a:rPr lang="en-US" sz="1500" dirty="0" err="1">
                <a:ea typeface="Roboto Mono"/>
              </a:rPr>
              <a:t>entusiastas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que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exigem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configurações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manuais</a:t>
            </a:r>
            <a:r>
              <a:rPr lang="en-US" sz="1500" dirty="0">
                <a:ea typeface="Roboto Mono"/>
              </a:rPr>
              <a:t> via </a:t>
            </a:r>
            <a:r>
              <a:rPr lang="en-US" sz="1500" dirty="0" err="1">
                <a:ea typeface="Roboto Mono"/>
              </a:rPr>
              <a:t>linha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dirty="0" err="1">
                <a:ea typeface="Roboto Mono"/>
              </a:rPr>
              <a:t>comando</a:t>
            </a:r>
            <a:r>
              <a:rPr lang="en-US" sz="1500" dirty="0">
                <a:ea typeface="Roboto Mono"/>
              </a:rPr>
              <a:t>, o Mint é </a:t>
            </a:r>
            <a:r>
              <a:rPr lang="en-US" sz="1500" dirty="0" err="1">
                <a:ea typeface="Roboto Mono"/>
              </a:rPr>
              <a:t>projetado</a:t>
            </a:r>
            <a:r>
              <a:rPr lang="en-US" sz="1500" dirty="0">
                <a:ea typeface="Roboto Mono"/>
              </a:rPr>
              <a:t> para </a:t>
            </a:r>
            <a:r>
              <a:rPr lang="en-US" sz="1500" dirty="0" err="1">
                <a:ea typeface="Roboto Mono"/>
              </a:rPr>
              <a:t>que</a:t>
            </a:r>
            <a:r>
              <a:rPr lang="en-US" sz="1500" dirty="0">
                <a:ea typeface="Roboto Mono"/>
              </a:rPr>
              <a:t> o </a:t>
            </a:r>
            <a:r>
              <a:rPr lang="en-US" sz="1500" dirty="0" err="1">
                <a:ea typeface="Roboto Mono"/>
              </a:rPr>
              <a:t>usuário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comum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possa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ligar</a:t>
            </a:r>
            <a:r>
              <a:rPr lang="en-US" sz="1500" dirty="0">
                <a:ea typeface="Roboto Mono"/>
              </a:rPr>
              <a:t> o </a:t>
            </a:r>
            <a:r>
              <a:rPr lang="en-US" sz="1500" dirty="0" err="1">
                <a:ea typeface="Roboto Mono"/>
              </a:rPr>
              <a:t>computador</a:t>
            </a:r>
            <a:r>
              <a:rPr lang="en-US" sz="1500" dirty="0">
                <a:ea typeface="Roboto Mono"/>
              </a:rPr>
              <a:t> e </a:t>
            </a:r>
            <a:r>
              <a:rPr lang="en-US" sz="1500" dirty="0" err="1">
                <a:ea typeface="Roboto Mono"/>
              </a:rPr>
              <a:t>começar</a:t>
            </a:r>
            <a:r>
              <a:rPr lang="en-US" sz="1500" dirty="0">
                <a:ea typeface="Roboto Mono"/>
              </a:rPr>
              <a:t> a </a:t>
            </a:r>
            <a:r>
              <a:rPr lang="en-US" sz="1500" dirty="0" err="1">
                <a:ea typeface="Roboto Mono"/>
              </a:rPr>
              <a:t>trabalhar</a:t>
            </a:r>
            <a:r>
              <a:rPr lang="en-US" sz="1500" dirty="0">
                <a:ea typeface="Roboto Mono"/>
              </a:rPr>
              <a:t>, </a:t>
            </a:r>
            <a:r>
              <a:rPr lang="en-US" sz="1500" dirty="0" err="1">
                <a:ea typeface="Roboto Mono"/>
              </a:rPr>
              <a:t>navegar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na</a:t>
            </a:r>
            <a:r>
              <a:rPr lang="en-US" sz="1500" dirty="0">
                <a:ea typeface="Roboto Mono"/>
              </a:rPr>
              <a:t> internet </a:t>
            </a:r>
            <a:r>
              <a:rPr lang="en-US" sz="1500" dirty="0" err="1">
                <a:ea typeface="Roboto Mono"/>
              </a:rPr>
              <a:t>ou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consumir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mídia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imediatamente</a:t>
            </a:r>
            <a:r>
              <a:rPr lang="en-US" sz="1500" dirty="0">
                <a:ea typeface="Roboto Mono"/>
              </a:rPr>
              <a:t>, </a:t>
            </a:r>
            <a:r>
              <a:rPr lang="en-US" sz="1500" dirty="0" err="1">
                <a:ea typeface="Roboto Mono"/>
              </a:rPr>
              <a:t>sem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precisar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configurar</a:t>
            </a:r>
            <a:r>
              <a:rPr lang="en-US" sz="1500" dirty="0">
                <a:ea typeface="Roboto Mono"/>
              </a:rPr>
              <a:t> drivers </a:t>
            </a:r>
            <a:r>
              <a:rPr lang="en-US" sz="1500" dirty="0" err="1">
                <a:ea typeface="Roboto Mono"/>
              </a:rPr>
              <a:t>complexos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ou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instalar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pacotes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adicionais</a:t>
            </a:r>
            <a:r>
              <a:rPr lang="en-US" sz="1500" dirty="0">
                <a:ea typeface="Roboto Mono"/>
              </a:rPr>
              <a:t> para </a:t>
            </a:r>
            <a:r>
              <a:rPr lang="en-US" sz="1500" dirty="0" err="1">
                <a:ea typeface="Roboto Mono"/>
              </a:rPr>
              <a:t>tarefas</a:t>
            </a:r>
            <a:r>
              <a:rPr lang="en-US" sz="1500" dirty="0">
                <a:ea typeface="Roboto Mono"/>
              </a:rPr>
              <a:t> </a:t>
            </a:r>
            <a:r>
              <a:rPr lang="en-US" sz="1500" dirty="0" err="1">
                <a:ea typeface="Roboto Mono"/>
              </a:rPr>
              <a:t>básicas</a:t>
            </a:r>
            <a:r>
              <a:rPr lang="en-US" sz="1500" dirty="0">
                <a:ea typeface="Roboto Mono"/>
              </a:rPr>
              <a:t>.</a:t>
            </a:r>
          </a:p>
          <a:p>
            <a:pPr algn="l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D551BF6-17EF-7EC9-FA47-EE55CD879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4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Histórico e </a:t>
            </a:r>
            <a:r>
              <a:rPr lang="en" dirty="0" err="1">
                <a:solidFill>
                  <a:schemeClr val="accent2"/>
                </a:solidFill>
                <a:latin typeface="Times New Roman"/>
                <a:cs typeface="Times New Roman"/>
              </a:rPr>
              <a:t>Origem</a:t>
            </a:r>
            <a:endParaRPr lang="en-US" dirty="0" err="1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3F273-6E16-CA74-DC6B-C4296C78C34D}"/>
              </a:ext>
            </a:extLst>
          </p:cNvPr>
          <p:cNvSpPr txBox="1"/>
          <p:nvPr/>
        </p:nvSpPr>
        <p:spPr>
          <a:xfrm>
            <a:off x="344920" y="1427203"/>
            <a:ext cx="8451169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500" b="1" dirty="0"/>
              <a:t>A </a:t>
            </a:r>
            <a:r>
              <a:rPr lang="en-US" sz="1500" b="1" dirty="0" err="1"/>
              <a:t>Criação</a:t>
            </a:r>
            <a:r>
              <a:rPr lang="en-US" sz="1500" b="1" dirty="0"/>
              <a:t>:</a:t>
            </a:r>
            <a:r>
              <a:rPr lang="en-US" sz="1500" dirty="0"/>
              <a:t> O </a:t>
            </a:r>
            <a:r>
              <a:rPr lang="en-US" sz="1500" dirty="0" err="1"/>
              <a:t>projeto</a:t>
            </a:r>
            <a:r>
              <a:rPr lang="en-US" sz="1500" dirty="0"/>
              <a:t> </a:t>
            </a:r>
            <a:r>
              <a:rPr lang="en-US" sz="1500" dirty="0" err="1"/>
              <a:t>foi</a:t>
            </a:r>
            <a:r>
              <a:rPr lang="en-US" sz="1500" dirty="0"/>
              <a:t> </a:t>
            </a:r>
            <a:r>
              <a:rPr lang="en-US" sz="1500" dirty="0" err="1"/>
              <a:t>fundado</a:t>
            </a:r>
            <a:r>
              <a:rPr lang="en-US" sz="1500" dirty="0"/>
              <a:t> </a:t>
            </a:r>
            <a:r>
              <a:rPr lang="en-US" sz="1500" dirty="0" err="1"/>
              <a:t>pelo</a:t>
            </a:r>
            <a:r>
              <a:rPr lang="en-US" sz="1500" dirty="0"/>
              <a:t> </a:t>
            </a:r>
            <a:r>
              <a:rPr lang="en-US" sz="1500" dirty="0" err="1"/>
              <a:t>desenvolvedor</a:t>
            </a:r>
            <a:r>
              <a:rPr lang="en-US" sz="1500" dirty="0"/>
              <a:t> </a:t>
            </a:r>
            <a:r>
              <a:rPr lang="en-US" sz="1500" dirty="0" err="1"/>
              <a:t>francês</a:t>
            </a:r>
            <a:r>
              <a:rPr lang="en-US" sz="1500" dirty="0"/>
              <a:t> Clément </a:t>
            </a:r>
            <a:r>
              <a:rPr lang="en-US" sz="1500" dirty="0" err="1"/>
              <a:t>Lefèbvre</a:t>
            </a:r>
            <a:r>
              <a:rPr lang="en-US" sz="1500" dirty="0"/>
              <a:t> </a:t>
            </a:r>
            <a:r>
              <a:rPr lang="en-US" sz="1500" dirty="0" err="1"/>
              <a:t>em</a:t>
            </a:r>
            <a:r>
              <a:rPr lang="en-US" sz="1500" dirty="0"/>
              <a:t> 2006.</a:t>
            </a:r>
          </a:p>
          <a:p>
            <a:pPr marL="285750" indent="-285750">
              <a:buChar char="•"/>
            </a:pPr>
            <a:endParaRPr lang="en-US" sz="1500" dirty="0"/>
          </a:p>
          <a:p>
            <a:pPr marL="285750" indent="-285750">
              <a:buChar char="•"/>
            </a:pPr>
            <a:r>
              <a:rPr lang="en-US" sz="1500" b="1" dirty="0"/>
              <a:t>O </a:t>
            </a:r>
            <a:r>
              <a:rPr lang="en-US" sz="1500" b="1" dirty="0" err="1"/>
              <a:t>Início</a:t>
            </a:r>
            <a:r>
              <a:rPr lang="en-US" sz="1500" b="1" dirty="0"/>
              <a:t> (</a:t>
            </a:r>
            <a:r>
              <a:rPr lang="en-US" sz="1500" b="1" dirty="0" err="1"/>
              <a:t>Versão</a:t>
            </a:r>
            <a:r>
              <a:rPr lang="en-US" sz="1500" b="1" dirty="0"/>
              <a:t> 1.0 "Ada"):</a:t>
            </a:r>
            <a:r>
              <a:rPr lang="en-US" sz="1500" dirty="0"/>
              <a:t> </a:t>
            </a:r>
            <a:r>
              <a:rPr lang="en-US" sz="1500" dirty="0" err="1"/>
              <a:t>Curiosamente</a:t>
            </a:r>
            <a:r>
              <a:rPr lang="en-US" sz="1500" dirty="0"/>
              <a:t>, a </a:t>
            </a:r>
            <a:r>
              <a:rPr lang="en-US" sz="1500" dirty="0" err="1"/>
              <a:t>primeira</a:t>
            </a:r>
            <a:r>
              <a:rPr lang="en-US" sz="1500" dirty="0"/>
              <a:t> </a:t>
            </a:r>
            <a:r>
              <a:rPr lang="en-US" sz="1500" dirty="0" err="1"/>
              <a:t>versão</a:t>
            </a:r>
            <a:r>
              <a:rPr lang="en-US" sz="1500" dirty="0"/>
              <a:t> do Linux Mint </a:t>
            </a:r>
            <a:r>
              <a:rPr lang="en-US" sz="1500" dirty="0" err="1"/>
              <a:t>não</a:t>
            </a:r>
            <a:r>
              <a:rPr lang="en-US" sz="1500" dirty="0"/>
              <a:t> </a:t>
            </a:r>
            <a:r>
              <a:rPr lang="en-US" sz="1500" dirty="0" err="1"/>
              <a:t>foi</a:t>
            </a:r>
            <a:r>
              <a:rPr lang="en-US" sz="1500" dirty="0"/>
              <a:t> </a:t>
            </a:r>
            <a:r>
              <a:rPr lang="en-US" sz="1500" dirty="0" err="1"/>
              <a:t>baseada</a:t>
            </a:r>
            <a:r>
              <a:rPr lang="en-US" sz="1500" dirty="0"/>
              <a:t> no Ubuntu </a:t>
            </a:r>
            <a:r>
              <a:rPr lang="en-US" sz="1500" dirty="0" err="1"/>
              <a:t>padrão</a:t>
            </a:r>
            <a:r>
              <a:rPr lang="en-US" sz="1500" dirty="0"/>
              <a:t>, mas sim no </a:t>
            </a:r>
            <a:r>
              <a:rPr lang="en-US" sz="1500" dirty="0" err="1"/>
              <a:t>Kubuntu</a:t>
            </a:r>
            <a:r>
              <a:rPr lang="en-US" sz="1500" dirty="0"/>
              <a:t> (</a:t>
            </a:r>
            <a:r>
              <a:rPr lang="en-US" sz="1500" dirty="0" err="1"/>
              <a:t>uma</a:t>
            </a:r>
            <a:r>
              <a:rPr lang="en-US" sz="1500" dirty="0"/>
              <a:t> </a:t>
            </a:r>
            <a:r>
              <a:rPr lang="en-US" sz="1500" dirty="0" err="1"/>
              <a:t>variação</a:t>
            </a:r>
            <a:r>
              <a:rPr lang="en-US" sz="1500" dirty="0"/>
              <a:t> do Ubuntu com a interface KDE).</a:t>
            </a:r>
          </a:p>
          <a:p>
            <a:pPr marL="285750" indent="-285750">
              <a:buChar char="•"/>
            </a:pPr>
            <a:endParaRPr lang="en-US" sz="1500" dirty="0"/>
          </a:p>
          <a:p>
            <a:pPr marL="285750" indent="-285750">
              <a:buChar char="•"/>
            </a:pPr>
            <a:r>
              <a:rPr lang="en-US" sz="1500" b="1" dirty="0"/>
              <a:t>O Ponto de Virada:</a:t>
            </a:r>
            <a:r>
              <a:rPr lang="en-US" sz="1500" dirty="0"/>
              <a:t> A </a:t>
            </a:r>
            <a:r>
              <a:rPr lang="en-US" sz="1500" dirty="0" err="1"/>
              <a:t>partir</a:t>
            </a:r>
            <a:r>
              <a:rPr lang="en-US" sz="1500" dirty="0"/>
              <a:t> da </a:t>
            </a:r>
            <a:r>
              <a:rPr lang="en-US" sz="1500" dirty="0" err="1"/>
              <a:t>versão</a:t>
            </a:r>
            <a:r>
              <a:rPr lang="en-US" sz="1500" dirty="0"/>
              <a:t> 2.0 ("Barbara"), o Mint </a:t>
            </a:r>
            <a:r>
              <a:rPr lang="en-US" sz="1500" dirty="0" err="1"/>
              <a:t>adotou</a:t>
            </a:r>
            <a:r>
              <a:rPr lang="en-US" sz="1500" dirty="0"/>
              <a:t> o Ubuntu </a:t>
            </a:r>
            <a:r>
              <a:rPr lang="en-US" sz="1500" dirty="0" err="1"/>
              <a:t>padrão</a:t>
            </a:r>
            <a:r>
              <a:rPr lang="en-US" sz="1500" dirty="0"/>
              <a:t> </a:t>
            </a:r>
            <a:r>
              <a:rPr lang="en-US" sz="1500" dirty="0" err="1"/>
              <a:t>como</a:t>
            </a:r>
            <a:r>
              <a:rPr lang="en-US" sz="1500" dirty="0"/>
              <a:t> base e </a:t>
            </a:r>
            <a:r>
              <a:rPr lang="en-US" sz="1500" dirty="0" err="1"/>
              <a:t>encontrou</a:t>
            </a:r>
            <a:r>
              <a:rPr lang="en-US" sz="1500" dirty="0"/>
              <a:t> </a:t>
            </a:r>
            <a:r>
              <a:rPr lang="en-US" sz="1500" dirty="0" err="1"/>
              <a:t>seu</a:t>
            </a:r>
            <a:r>
              <a:rPr lang="en-US" sz="1500" dirty="0"/>
              <a:t> grande </a:t>
            </a:r>
            <a:r>
              <a:rPr lang="en-US" sz="1500" dirty="0" err="1"/>
              <a:t>diferencial</a:t>
            </a:r>
            <a:r>
              <a:rPr lang="en-US" sz="1500" dirty="0"/>
              <a:t> no mercado. </a:t>
            </a:r>
            <a:r>
              <a:rPr lang="en-US" sz="1500" dirty="0" err="1"/>
              <a:t>Naquela</a:t>
            </a:r>
            <a:r>
              <a:rPr lang="en-US" sz="1500" dirty="0"/>
              <a:t> </a:t>
            </a:r>
            <a:r>
              <a:rPr lang="en-US" sz="1500" dirty="0" err="1"/>
              <a:t>época</a:t>
            </a:r>
            <a:r>
              <a:rPr lang="en-US" sz="1500" dirty="0"/>
              <a:t>, </a:t>
            </a:r>
            <a:r>
              <a:rPr lang="en-US" sz="1500" dirty="0" err="1"/>
              <a:t>por</a:t>
            </a:r>
            <a:r>
              <a:rPr lang="en-US" sz="1500" dirty="0"/>
              <a:t> </a:t>
            </a:r>
            <a:r>
              <a:rPr lang="en-US" sz="1500" dirty="0" err="1"/>
              <a:t>questões</a:t>
            </a:r>
            <a:r>
              <a:rPr lang="en-US" sz="1500" dirty="0"/>
              <a:t> de </a:t>
            </a:r>
            <a:r>
              <a:rPr lang="en-US" sz="1500" dirty="0" err="1"/>
              <a:t>licenciamento</a:t>
            </a:r>
            <a:r>
              <a:rPr lang="en-US" sz="1500" dirty="0"/>
              <a:t>, o Ubuntu e </a:t>
            </a:r>
            <a:r>
              <a:rPr lang="en-US" sz="1500" dirty="0" err="1"/>
              <a:t>outras</a:t>
            </a:r>
            <a:r>
              <a:rPr lang="en-US" sz="1500" dirty="0"/>
              <a:t> distros se </a:t>
            </a:r>
            <a:r>
              <a:rPr lang="en-US" sz="1500" dirty="0" err="1"/>
              <a:t>recusavam</a:t>
            </a:r>
            <a:r>
              <a:rPr lang="en-US" sz="1500" dirty="0"/>
              <a:t> a </a:t>
            </a:r>
            <a:r>
              <a:rPr lang="en-US" sz="1500" dirty="0" err="1"/>
              <a:t>incluir</a:t>
            </a:r>
            <a:r>
              <a:rPr lang="en-US" sz="1500" dirty="0"/>
              <a:t> </a:t>
            </a:r>
            <a:r>
              <a:rPr lang="en-US" sz="1500" dirty="0" err="1"/>
              <a:t>formatos</a:t>
            </a:r>
            <a:r>
              <a:rPr lang="en-US" sz="1500" dirty="0"/>
              <a:t> </a:t>
            </a:r>
            <a:r>
              <a:rPr lang="en-US" sz="1500" dirty="0" err="1"/>
              <a:t>proprietários</a:t>
            </a:r>
            <a:r>
              <a:rPr lang="en-US" sz="1500" dirty="0"/>
              <a:t> </a:t>
            </a:r>
            <a:r>
              <a:rPr lang="en-US" sz="1500" dirty="0" err="1"/>
              <a:t>nativamente</a:t>
            </a:r>
            <a:r>
              <a:rPr lang="en-US" sz="1500" dirty="0"/>
              <a:t>. O Linux Mint </a:t>
            </a:r>
            <a:r>
              <a:rPr lang="en-US" sz="1500" dirty="0" err="1"/>
              <a:t>decidiu</a:t>
            </a:r>
            <a:r>
              <a:rPr lang="en-US" sz="1500" dirty="0"/>
              <a:t> </a:t>
            </a:r>
            <a:r>
              <a:rPr lang="en-US" sz="1500" dirty="0" err="1"/>
              <a:t>contornar</a:t>
            </a:r>
            <a:r>
              <a:rPr lang="en-US" sz="1500" dirty="0"/>
              <a:t> </a:t>
            </a:r>
            <a:r>
              <a:rPr lang="en-US" sz="1500" dirty="0" err="1"/>
              <a:t>isso</a:t>
            </a:r>
            <a:r>
              <a:rPr lang="en-US" sz="1500" dirty="0"/>
              <a:t>, </a:t>
            </a:r>
            <a:r>
              <a:rPr lang="en-US" sz="1500" dirty="0" err="1"/>
              <a:t>incluindo</a:t>
            </a:r>
            <a:r>
              <a:rPr lang="en-US" sz="1500" dirty="0"/>
              <a:t> </a:t>
            </a:r>
            <a:r>
              <a:rPr lang="en-US" sz="1500" dirty="0" err="1"/>
              <a:t>suporte</a:t>
            </a:r>
            <a:r>
              <a:rPr lang="en-US" sz="1500" dirty="0"/>
              <a:t> </a:t>
            </a:r>
            <a:r>
              <a:rPr lang="en-US" sz="1500" dirty="0" err="1"/>
              <a:t>pré-instalado</a:t>
            </a:r>
            <a:r>
              <a:rPr lang="en-US" sz="1500" dirty="0"/>
              <a:t> a MP3, </a:t>
            </a:r>
            <a:r>
              <a:rPr lang="en-US" sz="1500" dirty="0" err="1"/>
              <a:t>reprodução</a:t>
            </a:r>
            <a:r>
              <a:rPr lang="en-US" sz="1500" dirty="0"/>
              <a:t> de DVDs, Adobe Flash e drivers </a:t>
            </a:r>
            <a:r>
              <a:rPr lang="en-US" sz="1500" dirty="0" err="1"/>
              <a:t>proprietários</a:t>
            </a:r>
            <a:r>
              <a:rPr lang="en-US" sz="1500" dirty="0"/>
              <a:t> de </a:t>
            </a:r>
            <a:r>
              <a:rPr lang="en-US" sz="1500" dirty="0" err="1"/>
              <a:t>placas</a:t>
            </a:r>
            <a:r>
              <a:rPr lang="en-US" sz="1500" dirty="0"/>
              <a:t> de </a:t>
            </a:r>
            <a:r>
              <a:rPr lang="en-US" sz="1500" dirty="0" err="1"/>
              <a:t>vídeo</a:t>
            </a:r>
            <a:r>
              <a:rPr lang="en-US" sz="1500" dirty="0"/>
              <a:t> e rede Wi-Fi. Essa </a:t>
            </a:r>
            <a:r>
              <a:rPr lang="en-US" sz="1500" dirty="0" err="1"/>
              <a:t>decisão</a:t>
            </a:r>
            <a:r>
              <a:rPr lang="en-US" sz="1500" dirty="0"/>
              <a:t> </a:t>
            </a:r>
            <a:r>
              <a:rPr lang="en-US" sz="1500" dirty="0" err="1"/>
              <a:t>pragmática</a:t>
            </a:r>
            <a:r>
              <a:rPr lang="en-US" sz="1500" dirty="0"/>
              <a:t> </a:t>
            </a:r>
            <a:r>
              <a:rPr lang="en-US" sz="1500" dirty="0" err="1"/>
              <a:t>atraiu</a:t>
            </a:r>
            <a:r>
              <a:rPr lang="en-US" sz="1500" dirty="0"/>
              <a:t> </a:t>
            </a:r>
            <a:r>
              <a:rPr lang="en-US" sz="1500" dirty="0" err="1"/>
              <a:t>milhões</a:t>
            </a:r>
            <a:r>
              <a:rPr lang="en-US" sz="1500" dirty="0"/>
              <a:t> de </a:t>
            </a:r>
            <a:r>
              <a:rPr lang="en-US" sz="1500" dirty="0" err="1"/>
              <a:t>usuários</a:t>
            </a:r>
            <a:r>
              <a:rPr lang="en-US" sz="1500" dirty="0"/>
              <a:t> </a:t>
            </a:r>
            <a:r>
              <a:rPr lang="en-US" sz="1500" dirty="0" err="1"/>
              <a:t>que</a:t>
            </a:r>
            <a:r>
              <a:rPr lang="en-US" sz="1500" dirty="0"/>
              <a:t> </a:t>
            </a:r>
            <a:r>
              <a:rPr lang="en-US" sz="1500" dirty="0" err="1"/>
              <a:t>estavam</a:t>
            </a:r>
            <a:r>
              <a:rPr lang="en-US" sz="1500" dirty="0"/>
              <a:t> </a:t>
            </a:r>
            <a:r>
              <a:rPr lang="en-US" sz="1500" dirty="0" err="1"/>
              <a:t>frustrados</a:t>
            </a:r>
            <a:r>
              <a:rPr lang="en-US" sz="1500" dirty="0"/>
              <a:t> com as </a:t>
            </a:r>
            <a:r>
              <a:rPr lang="en-US" sz="1500" dirty="0" err="1"/>
              <a:t>barreiras</a:t>
            </a:r>
            <a:r>
              <a:rPr lang="en-US" sz="1500" dirty="0"/>
              <a:t> </a:t>
            </a:r>
            <a:r>
              <a:rPr lang="en-US" sz="1500" dirty="0" err="1"/>
              <a:t>técnicas</a:t>
            </a:r>
            <a:r>
              <a:rPr lang="en-US" sz="1500" dirty="0"/>
              <a:t> do Linux.</a:t>
            </a:r>
          </a:p>
          <a:p>
            <a:pPr algn="l"/>
            <a:endParaRPr lang="en-US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031669D-6866-137C-37AE-6DDB62228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825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14705" y="811040"/>
            <a:ext cx="8311980" cy="897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chemeClr val="accent2"/>
                </a:solidFill>
                <a:latin typeface="Times New Roman"/>
                <a:cs typeface="Times New Roman"/>
              </a:rPr>
              <a:t>Evolução e Derivações (As Interfaces Gráficas)</a:t>
            </a:r>
            <a:endParaRPr lang="pt-BR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14705" y="1497780"/>
            <a:ext cx="8414820" cy="3264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sz="1500" b="1" dirty="0">
                <a:latin typeface="Arial"/>
                <a:cs typeface="Arial"/>
              </a:rPr>
              <a:t>Edição Cinnamon (O Carro-Chefe):</a:t>
            </a:r>
            <a:r>
              <a:rPr lang="en" sz="1500" dirty="0">
                <a:latin typeface="Arial"/>
                <a:cs typeface="Arial"/>
              </a:rPr>
              <a:t> Desenvolvida do zero pela própria equipe do Linux Mint. O Cinnamon utiliza tecnologias modernas de renderização gráfica, mas preserva a metáfora clássica de uso: um botão de menu no canto inferior esquerdo, uma barra de tarefas para janelas abertas e uma bandeja do sistema (system tray). É rico em efeitos visuais e altamente personalizável.</a:t>
            </a:r>
            <a:br>
              <a:rPr lang="en" sz="1500" dirty="0">
                <a:latin typeface="Arial"/>
                <a:cs typeface="Arial"/>
              </a:rPr>
            </a:br>
            <a:endParaRPr lang="pt-BR" sz="1500" dirty="0">
              <a:latin typeface="Arial"/>
              <a:cs typeface="Arial"/>
            </a:endParaRPr>
          </a:p>
          <a:p>
            <a:pPr marL="285750" indent="-285750"/>
            <a:r>
              <a:rPr lang="en" sz="1500" b="1" dirty="0">
                <a:latin typeface="Arial"/>
                <a:cs typeface="Arial"/>
              </a:rPr>
              <a:t>Edição MATE:</a:t>
            </a:r>
            <a:r>
              <a:rPr lang="en" sz="1500" dirty="0">
                <a:latin typeface="Arial"/>
                <a:cs typeface="Arial"/>
              </a:rPr>
              <a:t> Quando o GNOME 3 foi lançado, uma comunidade de desenvolvedores decidiu continuar mantendo o código antigo do GNOME 2 vivo, criando o projeto MATE. O Mint adotou o MATE como uma alternativa mais leve e tradicional ao Cinnamon. É extremamente estável e consome menos recursos de hardware.</a:t>
            </a:r>
            <a:br>
              <a:rPr lang="en" sz="1500" dirty="0">
                <a:latin typeface="Arial"/>
                <a:cs typeface="Arial"/>
              </a:rPr>
            </a:br>
            <a:endParaRPr lang="en" sz="1500" dirty="0">
              <a:latin typeface="Arial"/>
              <a:cs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D77FCDF-D234-556A-D456-ABE94114E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0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460E717-CC0B-7983-8033-8C7841FF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>
            <a:extLst>
              <a:ext uri="{FF2B5EF4-FFF2-40B4-BE49-F238E27FC236}">
                <a16:creationId xmlns:a16="http://schemas.microsoft.com/office/drawing/2014/main" id="{8F0A7398-6EC8-359F-753B-BA3C7AF87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705" y="811040"/>
            <a:ext cx="8311980" cy="897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Evolução e Derivações (As Interfaces Gráficas)</a:t>
            </a:r>
            <a:endParaRPr lang="pt-BR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251" name="Google Shape;251;p31">
            <a:extLst>
              <a:ext uri="{FF2B5EF4-FFF2-40B4-BE49-F238E27FC236}">
                <a16:creationId xmlns:a16="http://schemas.microsoft.com/office/drawing/2014/main" id="{968BCD21-CA9F-8CE7-694A-D2EF438E2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4705" y="1497780"/>
            <a:ext cx="8414820" cy="3264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sz="1500" b="1" dirty="0">
                <a:latin typeface="Arial"/>
                <a:cs typeface="Arial"/>
              </a:rPr>
              <a:t>Edição XFCE:</a:t>
            </a:r>
            <a:r>
              <a:rPr lang="en" sz="1500" dirty="0">
                <a:latin typeface="Arial"/>
                <a:cs typeface="Arial"/>
              </a:rPr>
              <a:t> A edição oficial mais leve. O XFCE é um ambiente gráfico de terceiros focado em máxima eficiência e mínimo consumo de memória RAM e processamento, ideal para computadores mais antigos.</a:t>
            </a:r>
            <a:br>
              <a:rPr lang="en" sz="1500" dirty="0">
                <a:latin typeface="Arial"/>
                <a:cs typeface="Arial"/>
              </a:rPr>
            </a:br>
            <a:endParaRPr lang="en-US" sz="1500" dirty="0">
              <a:latin typeface="Arial"/>
              <a:cs typeface="Arial"/>
            </a:endParaRPr>
          </a:p>
          <a:p>
            <a:pPr marL="285750" indent="-285750"/>
            <a:r>
              <a:rPr lang="en" sz="1500" b="1" dirty="0">
                <a:latin typeface="Arial"/>
                <a:cs typeface="Arial"/>
              </a:rPr>
              <a:t>LMDE (Linux Mint Debian Edition):</a:t>
            </a:r>
            <a:r>
              <a:rPr lang="en" sz="1500" dirty="0">
                <a:latin typeface="Arial"/>
                <a:cs typeface="Arial"/>
              </a:rPr>
              <a:t> Esta não é apenas uma interface, mas uma base diferente. Enquanto o Mint tradicional é baseado no Ubuntu, o LMDE é baseado diretamente no Debian. Ele foi criado como uma "prova de conceito" e um plano de contingência para garantir que o Linux Mint continue existindo mesmo que o Ubuntu deixe de ser uma base viável no futuro.</a:t>
            </a:r>
            <a:endParaRPr lang="en-US" sz="15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" dirty="0"/>
              <a:t/>
            </a:r>
            <a:br>
              <a:rPr lang="en" dirty="0"/>
            </a:b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1F3246B-33A7-4A4D-FB10-6D688C18F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13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0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>
            <a:spLocks noGrp="1"/>
          </p:cNvSpPr>
          <p:nvPr>
            <p:ph type="title"/>
          </p:nvPr>
        </p:nvSpPr>
        <p:spPr>
          <a:xfrm>
            <a:off x="315544" y="646234"/>
            <a:ext cx="8519742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000" dirty="0">
                <a:solidFill>
                  <a:schemeClr val="accent2"/>
                </a:solidFill>
                <a:latin typeface="Times New Roman"/>
                <a:cs typeface="Times New Roman"/>
              </a:rPr>
              <a:t>Principais Características e Ferramentas (Mint Tools)</a:t>
            </a:r>
            <a:endParaRPr lang="pt-BR" sz="3000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1"/>
          </p:nvPr>
        </p:nvSpPr>
        <p:spPr>
          <a:xfrm>
            <a:off x="313052" y="1208340"/>
            <a:ext cx="8514344" cy="3392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b="1" dirty="0">
                <a:latin typeface="Arial"/>
                <a:cs typeface="Arial"/>
              </a:rPr>
              <a:t>Gerenciador de Aplicativos (MintInstall):</a:t>
            </a:r>
            <a:r>
              <a:rPr lang="en" dirty="0">
                <a:latin typeface="Arial"/>
                <a:cs typeface="Arial"/>
              </a:rPr>
              <a:t> Uma "loja de aplicativos" rápida e intuitiva. Uma característica marcante do Mint é a sua </a:t>
            </a:r>
            <a:r>
              <a:rPr lang="en" b="1" dirty="0">
                <a:latin typeface="Arial"/>
                <a:cs typeface="Arial"/>
              </a:rPr>
              <a:t>rejeição oficial ao formato de pacotes Snap</a:t>
            </a:r>
            <a:r>
              <a:rPr lang="en" dirty="0">
                <a:latin typeface="Arial"/>
                <a:cs typeface="Arial"/>
              </a:rPr>
              <a:t> (desenvolvido pela Canonical/Ubuntu), bloqueando-o por padrão em prol do formato concorrente </a:t>
            </a:r>
            <a:r>
              <a:rPr lang="en" b="1" dirty="0">
                <a:latin typeface="Arial"/>
                <a:cs typeface="Arial"/>
              </a:rPr>
              <a:t>Flatpak</a:t>
            </a:r>
            <a:r>
              <a:rPr lang="en" dirty="0">
                <a:latin typeface="Arial"/>
                <a:cs typeface="Arial"/>
              </a:rPr>
              <a:t>, que já vem ativado nativamente.</a:t>
            </a:r>
            <a:endParaRPr lang="pt-BR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b="1" dirty="0">
                <a:latin typeface="Arial"/>
                <a:cs typeface="Arial"/>
              </a:rPr>
              <a:t>Gerenciador de Atualizações (MintUpdate):</a:t>
            </a:r>
            <a:r>
              <a:rPr lang="en" dirty="0">
                <a:latin typeface="Arial"/>
                <a:cs typeface="Arial"/>
              </a:rPr>
              <a:t> Uma ferramenta segura que classifica as atualizações do sistema e dos aplicativos. Ele nunca obriga o usuário a reiniciar o computador durante o trabalho (como ocorre no Windows Update).</a:t>
            </a:r>
          </a:p>
          <a:p>
            <a:pPr marL="285750" indent="-285750">
              <a:buFont typeface="Arial"/>
              <a:buChar char="•"/>
            </a:pP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b="1" dirty="0">
                <a:latin typeface="Arial"/>
                <a:cs typeface="Arial"/>
              </a:rPr>
              <a:t>Timeshift:</a:t>
            </a:r>
            <a:r>
              <a:rPr lang="en" dirty="0">
                <a:latin typeface="Arial"/>
                <a:cs typeface="Arial"/>
              </a:rPr>
              <a:t> Uma poderosa ferramenta de backup do sistema integrado. Ele tira "fotografias" (snapshots) do sistema operacional. Se uma atualização ou alteração quebrar o sistema, o usuário pode reverter o computador para o estado exato do dia anterior, como uma máquina do tempo.</a:t>
            </a:r>
          </a:p>
          <a:p>
            <a:pPr marL="285750" indent="-285750">
              <a:buFont typeface="Arial"/>
              <a:buChar char="•"/>
            </a:pP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b="1" dirty="0">
                <a:latin typeface="Arial"/>
                <a:cs typeface="Arial"/>
              </a:rPr>
              <a:t>X-Apps:</a:t>
            </a:r>
            <a:r>
              <a:rPr lang="en" dirty="0">
                <a:latin typeface="Arial"/>
                <a:cs typeface="Arial"/>
              </a:rPr>
              <a:t> Um conjunto de aplicativos padrão (como o editor de texto </a:t>
            </a:r>
            <a:r>
              <a:rPr lang="en" i="1" dirty="0">
                <a:latin typeface="Arial"/>
                <a:cs typeface="Arial"/>
              </a:rPr>
              <a:t>Xed</a:t>
            </a:r>
            <a:r>
              <a:rPr lang="en" dirty="0">
                <a:latin typeface="Arial"/>
                <a:cs typeface="Arial"/>
              </a:rPr>
              <a:t>, o leitor de PDF </a:t>
            </a:r>
            <a:r>
              <a:rPr lang="en" i="1" dirty="0">
                <a:latin typeface="Arial"/>
                <a:cs typeface="Arial"/>
              </a:rPr>
              <a:t>Xreader</a:t>
            </a:r>
            <a:r>
              <a:rPr lang="en" dirty="0">
                <a:latin typeface="Arial"/>
                <a:cs typeface="Arial"/>
              </a:rPr>
              <a:t> e o reprodutor de mídia </a:t>
            </a:r>
            <a:r>
              <a:rPr lang="en" i="1" dirty="0">
                <a:latin typeface="Arial"/>
                <a:cs typeface="Arial"/>
              </a:rPr>
              <a:t>Xplayer</a:t>
            </a:r>
            <a:r>
              <a:rPr lang="en" dirty="0">
                <a:latin typeface="Arial"/>
                <a:cs typeface="Arial"/>
              </a:rPr>
              <a:t>) desenvolvidos para funcionarem com o mesmo design visual e eficiência em qualquer uma das interfaces (Cinnamon, MATE ou XFCE).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imes New Roman"/>
              <a:cs typeface="Times New Roman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4E9B740-2620-3556-ED93-ED36D16A3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85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Principais Aplicações e Casos de Uso</a:t>
            </a:r>
            <a:endParaRPr lang="pt-BR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E92E3F-424F-D2EF-6C5B-2EF2B304D278}"/>
              </a:ext>
            </a:extLst>
          </p:cNvPr>
          <p:cNvSpPr txBox="1"/>
          <p:nvPr/>
        </p:nvSpPr>
        <p:spPr>
          <a:xfrm>
            <a:off x="341416" y="1284019"/>
            <a:ext cx="8283038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pt-BR" b="1" dirty="0"/>
              <a:t>Porta de Entrada e Transição:</a:t>
            </a:r>
            <a:r>
              <a:rPr lang="pt-BR" dirty="0"/>
              <a:t> É considerado mundialmente o melhor sistema para usuários que estão migrando do Microsoft Windows, pois a curva de aprendizado da interface </a:t>
            </a:r>
            <a:r>
              <a:rPr lang="pt-BR" dirty="0" err="1"/>
              <a:t>Cinnamon</a:t>
            </a:r>
            <a:r>
              <a:rPr lang="pt-BR" dirty="0"/>
              <a:t> é praticamente nula.</a:t>
            </a:r>
          </a:p>
          <a:p>
            <a:pPr marL="285750" indent="-285750">
              <a:buChar char="•"/>
            </a:pPr>
            <a:endParaRPr lang="pt-BR" dirty="0"/>
          </a:p>
          <a:p>
            <a:pPr marL="285750" indent="-285750">
              <a:buChar char="•"/>
            </a:pPr>
            <a:r>
              <a:rPr lang="pt-BR" b="1" dirty="0"/>
              <a:t>Ambiente de Desenvolvimento de Software:</a:t>
            </a:r>
            <a:r>
              <a:rPr lang="pt-BR" dirty="0"/>
              <a:t> Devido à sua base Ubuntu, o </a:t>
            </a:r>
            <a:r>
              <a:rPr lang="pt-BR" dirty="0" err="1"/>
              <a:t>Mint</a:t>
            </a:r>
            <a:r>
              <a:rPr lang="pt-BR" dirty="0"/>
              <a:t> é excepcionalmente amigável para programadores e analistas de sistemas. Ferramentas, bancos de dados, contêineres (como Docker) e </a:t>
            </a:r>
            <a:r>
              <a:rPr lang="pt-BR" dirty="0" err="1"/>
              <a:t>IDEs</a:t>
            </a:r>
            <a:r>
              <a:rPr lang="pt-BR" dirty="0"/>
              <a:t> funcionam de forma nativa e estável, tornando-o popular em cursos de tecnologia e universidades.</a:t>
            </a:r>
          </a:p>
          <a:p>
            <a:pPr marL="285750" indent="-285750">
              <a:buChar char="•"/>
            </a:pPr>
            <a:endParaRPr lang="pt-BR" dirty="0"/>
          </a:p>
          <a:p>
            <a:pPr marL="285750" indent="-285750">
              <a:buChar char="•"/>
            </a:pPr>
            <a:r>
              <a:rPr lang="pt-BR" b="1" dirty="0"/>
              <a:t>Sobrevivência de Hardware Antigo (Green </a:t>
            </a:r>
            <a:r>
              <a:rPr lang="pt-BR" b="1" dirty="0" err="1"/>
              <a:t>Computing</a:t>
            </a:r>
            <a:r>
              <a:rPr lang="pt-BR" b="1" dirty="0"/>
              <a:t>):</a:t>
            </a:r>
            <a:r>
              <a:rPr lang="pt-BR" dirty="0"/>
              <a:t> Utilizando a edição XFCE, instituições e usuários comuns conseguem reaproveitar computadores de 10 a 15 anos de idade com desempenho satisfatório e segurança atualizada.</a:t>
            </a:r>
          </a:p>
          <a:p>
            <a:pPr marL="285750" indent="-285750">
              <a:buChar char="•"/>
            </a:pPr>
            <a:endParaRPr lang="pt-BR" dirty="0"/>
          </a:p>
          <a:p>
            <a:pPr marL="285750" indent="-285750">
              <a:buChar char="•"/>
            </a:pPr>
            <a:r>
              <a:rPr lang="pt-BR" b="1" dirty="0"/>
              <a:t>Ambientes Corporativos Básicos:</a:t>
            </a:r>
            <a:r>
              <a:rPr lang="pt-BR" dirty="0"/>
              <a:t> Muito utilizado em escritórios e </a:t>
            </a:r>
            <a:r>
              <a:rPr lang="pt-BR" dirty="0" err="1"/>
              <a:t>call</a:t>
            </a:r>
            <a:r>
              <a:rPr lang="pt-BR" dirty="0"/>
              <a:t> centers devido à imunidade à maioria dos vírus de Windows e à gratuidade de suas licenças.</a:t>
            </a: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9364FD9-C907-DA4C-A8DD-CD8EB9DC4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65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Vantagens</a:t>
            </a:r>
            <a:endParaRPr lang="pt-BR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04F1EF4-6CBE-8FE3-3E61-AC5F9AC6D154}"/>
              </a:ext>
            </a:extLst>
          </p:cNvPr>
          <p:cNvSpPr txBox="1"/>
          <p:nvPr/>
        </p:nvSpPr>
        <p:spPr>
          <a:xfrm>
            <a:off x="252350" y="1284019"/>
            <a:ext cx="8438902" cy="3062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b="1" dirty="0"/>
          </a:p>
          <a:p>
            <a:pPr marL="285750" indent="-285750">
              <a:buChar char="•"/>
            </a:pPr>
            <a:r>
              <a:rPr lang="pt-BR" sz="1500" b="1" dirty="0"/>
              <a:t>Estabilidade e Confiabilidade:</a:t>
            </a:r>
            <a:r>
              <a:rPr lang="pt-BR" sz="1500" dirty="0"/>
              <a:t> Como é baseado nas versões "LTS" (</a:t>
            </a:r>
            <a:r>
              <a:rPr lang="pt-BR" sz="1500" dirty="0" err="1"/>
              <a:t>Long</a:t>
            </a:r>
            <a:r>
              <a:rPr lang="pt-BR" sz="1500" dirty="0"/>
              <a:t> </a:t>
            </a:r>
            <a:r>
              <a:rPr lang="pt-BR" sz="1500" dirty="0" err="1"/>
              <a:t>Term</a:t>
            </a:r>
            <a:r>
              <a:rPr lang="pt-BR" sz="1500" dirty="0"/>
              <a:t> </a:t>
            </a:r>
            <a:r>
              <a:rPr lang="pt-BR" sz="1500" dirty="0" err="1"/>
              <a:t>Support</a:t>
            </a:r>
            <a:r>
              <a:rPr lang="pt-BR" sz="1500" dirty="0"/>
              <a:t>) do Ubuntu, o sistema base muda pouco ao longo de anos, garantindo que as coisas continuem funcionando sem falhas repentinas.</a:t>
            </a:r>
            <a:br>
              <a:rPr lang="pt-BR" sz="1500" dirty="0"/>
            </a:br>
            <a:endParaRPr lang="pt-BR" sz="1500" dirty="0"/>
          </a:p>
          <a:p>
            <a:pPr marL="285750" indent="-285750">
              <a:buChar char="•"/>
            </a:pPr>
            <a:r>
              <a:rPr lang="pt-BR" sz="1500" b="1" dirty="0"/>
              <a:t>Respeito à Privacidade:</a:t>
            </a:r>
            <a:r>
              <a:rPr lang="pt-BR" sz="1500" dirty="0"/>
              <a:t> O Linux </a:t>
            </a:r>
            <a:r>
              <a:rPr lang="pt-BR" sz="1500" dirty="0" err="1"/>
              <a:t>Mint</a:t>
            </a:r>
            <a:r>
              <a:rPr lang="pt-BR" sz="1500" dirty="0"/>
              <a:t> não possui telemetria oculta, não rastreia os hábitos de navegação do usuário e não exibe anúncios integrados no sistema.</a:t>
            </a:r>
            <a:br>
              <a:rPr lang="pt-BR" sz="1500" dirty="0"/>
            </a:br>
            <a:endParaRPr lang="pt-BR" sz="1500" dirty="0"/>
          </a:p>
          <a:p>
            <a:pPr marL="285750" indent="-285750">
              <a:buChar char="•"/>
            </a:pPr>
            <a:r>
              <a:rPr lang="pt-BR" sz="1500" b="1" dirty="0"/>
              <a:t>Custo e Liberdade:</a:t>
            </a:r>
            <a:r>
              <a:rPr lang="pt-BR" sz="1500" dirty="0"/>
              <a:t> É 100% gratuito e de código aberto.</a:t>
            </a:r>
            <a:br>
              <a:rPr lang="pt-BR" sz="1500" dirty="0"/>
            </a:br>
            <a:endParaRPr lang="pt-BR" sz="1500" dirty="0"/>
          </a:p>
          <a:p>
            <a:pPr marL="285750" indent="-285750">
              <a:buChar char="•"/>
            </a:pPr>
            <a:r>
              <a:rPr lang="pt-BR" sz="1500" b="1" dirty="0"/>
              <a:t>Comunidade Ativa:</a:t>
            </a:r>
            <a:r>
              <a:rPr lang="pt-BR" sz="1500" dirty="0"/>
              <a:t> Possui fóruns extensos e, como é compatível com o Ubuntu, 99% dos tutoriais de Ubuntu na internet funcionam perfeitamente no </a:t>
            </a:r>
            <a:r>
              <a:rPr lang="pt-BR" sz="1500" dirty="0" err="1"/>
              <a:t>Mint</a:t>
            </a:r>
            <a:r>
              <a:rPr lang="pt-BR" sz="1500" dirty="0"/>
              <a:t>.</a:t>
            </a:r>
          </a:p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C8EB135-3BE1-93B1-4BC3-09CB00388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44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116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Limitações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50B2FC2-7328-AD6B-3E0B-7C4C66A77789}"/>
              </a:ext>
            </a:extLst>
          </p:cNvPr>
          <p:cNvSpPr txBox="1"/>
          <p:nvPr/>
        </p:nvSpPr>
        <p:spPr>
          <a:xfrm>
            <a:off x="348837" y="1432461"/>
            <a:ext cx="8305305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sz="1500" b="1" dirty="0"/>
              <a:t>Não é voltado para Servidores:</a:t>
            </a:r>
            <a:r>
              <a:rPr lang="pt-BR" sz="1500" dirty="0"/>
              <a:t> A equipe foca 100% na experiência de Desktop (computador pessoal). Não há uma versão "Linux </a:t>
            </a:r>
            <a:r>
              <a:rPr lang="pt-BR" sz="1500" dirty="0" err="1"/>
              <a:t>Mint</a:t>
            </a:r>
            <a:r>
              <a:rPr lang="pt-BR" sz="1500" dirty="0"/>
              <a:t> Server".</a:t>
            </a:r>
            <a:br>
              <a:rPr lang="pt-BR" sz="1500" dirty="0"/>
            </a:br>
            <a:endParaRPr lang="en-US" sz="1500" dirty="0">
              <a:solidFill>
                <a:srgbClr val="191919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500" b="1" dirty="0"/>
              <a:t>Softwares menos recentes (Software </a:t>
            </a:r>
            <a:r>
              <a:rPr lang="pt-BR" sz="1500" b="1" dirty="0" err="1"/>
              <a:t>Stagnation</a:t>
            </a:r>
            <a:r>
              <a:rPr lang="pt-BR" sz="1500" b="1" dirty="0"/>
              <a:t>):</a:t>
            </a:r>
            <a:r>
              <a:rPr lang="pt-BR" sz="1500" dirty="0"/>
              <a:t> O foco em estabilidade LTS significa que o sistema demora anos para receber as versões mais novas do núcleo do sistema (Kernel) e de alguns pacotes de base, o que pode atrasar o suporte a placas de vídeo recém-lançadas no mercado.</a:t>
            </a:r>
            <a:br>
              <a:rPr lang="pt-BR" sz="1500" dirty="0"/>
            </a:br>
            <a:endParaRPr lang="en-US" sz="1500" dirty="0">
              <a:solidFill>
                <a:srgbClr val="191919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500" b="1" dirty="0"/>
              <a:t>Adoção Tecnológica Lenta:</a:t>
            </a:r>
            <a:r>
              <a:rPr lang="pt-BR" sz="1500" dirty="0"/>
              <a:t> A equipe de desenvolvimento é conservadora. Por exemplo, a transição para o protocolo de vídeo moderno (</a:t>
            </a:r>
            <a:r>
              <a:rPr lang="pt-BR" sz="1500" dirty="0" err="1"/>
              <a:t>Wayland</a:t>
            </a:r>
            <a:r>
              <a:rPr lang="pt-BR" sz="1500" dirty="0"/>
              <a:t>), que já é padrão em outros sistemas, tem ocorrido de forma muito cautelosa e lenta no </a:t>
            </a:r>
            <a:r>
              <a:rPr lang="pt-BR" sz="1500" dirty="0" err="1"/>
              <a:t>Mint</a:t>
            </a:r>
            <a:r>
              <a:rPr lang="pt-BR" sz="1500" dirty="0"/>
              <a:t>.</a:t>
            </a:r>
            <a:endParaRPr lang="en-US" sz="1500" dirty="0">
              <a:solidFill>
                <a:srgbClr val="191919"/>
              </a:solidFill>
            </a:endParaRPr>
          </a:p>
          <a:p>
            <a:endParaRPr lang="pt-BR" sz="1500" dirty="0">
              <a:solidFill>
                <a:srgbClr val="191919"/>
              </a:solidFill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69447C8-219F-1F91-B9CC-4746E8A8F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495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  <a:latin typeface="Times New Roman"/>
                <a:cs typeface="Times New Roman"/>
              </a:rPr>
              <a:t>Situação Atual e Evolução</a:t>
            </a:r>
            <a:endParaRPr lang="pt-BR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4D8BDC-3CBA-6EA2-6772-8D5E9DAAFB51}"/>
              </a:ext>
            </a:extLst>
          </p:cNvPr>
          <p:cNvSpPr txBox="1"/>
          <p:nvPr/>
        </p:nvSpPr>
        <p:spPr>
          <a:xfrm>
            <a:off x="267194" y="1432461"/>
            <a:ext cx="850570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 dirty="0"/>
              <a:t>Atualmente (2026), o sistema encontra-se na série </a:t>
            </a:r>
            <a:r>
              <a:rPr lang="pt-BR" sz="1500" b="1" dirty="0"/>
              <a:t>22.x</a:t>
            </a:r>
            <a:r>
              <a:rPr lang="pt-BR" sz="1500" dirty="0"/>
              <a:t>, solidificando sua base moderna no Ubuntu 24.04 LTS. A comunidade e a equipe de desenvolvimento estão ativamente preparando a próxima grande geração, o </a:t>
            </a:r>
            <a:r>
              <a:rPr lang="pt-BR" sz="1500" b="1" dirty="0"/>
              <a:t>Linux </a:t>
            </a:r>
            <a:r>
              <a:rPr lang="pt-BR" sz="1500" b="1" dirty="0" err="1"/>
              <a:t>Mint</a:t>
            </a:r>
            <a:r>
              <a:rPr lang="pt-BR" sz="1500" b="1" dirty="0"/>
              <a:t> 23</a:t>
            </a:r>
            <a:r>
              <a:rPr lang="pt-BR" sz="1500" dirty="0"/>
              <a:t>, com lançamento planejado para o final de 2026. Esta evolução marcará uma nova era técnica para o sistema, com a maturação final do suporte ao </a:t>
            </a:r>
            <a:r>
              <a:rPr lang="pt-BR" sz="1500" dirty="0" err="1"/>
              <a:t>Wayland</a:t>
            </a:r>
            <a:r>
              <a:rPr lang="pt-BR" sz="1500" dirty="0"/>
              <a:t> na interface </a:t>
            </a:r>
            <a:r>
              <a:rPr lang="pt-BR" sz="1500" dirty="0" err="1"/>
              <a:t>Cinnamon</a:t>
            </a:r>
            <a:r>
              <a:rPr lang="pt-BR" sz="1500" dirty="0"/>
              <a:t> e a reformulação completa do instalador do sistema, garantindo a relevância da distribuição para a próxima década.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1C9734-ECD7-42ED-94C4-B8F5A236F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06126" y="0"/>
            <a:ext cx="156916" cy="20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3765 L -0.38542 -0.13765 C -0.55851 -0.13765 -0.77083 -0.04506 -0.77083 0.02963 L -0.77083 0.1969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42" y="16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155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7083 0.19692 L -0.73802 0.41852 C -0.73073 0.46513 -0.72656 0.53519 -0.72656 0.60926 C -0.72656 0.69075 -0.73073 0.7571 -0.73802 0.80463 L -0.77083 1.02809 " pathEditMode="relative" rAng="5400000" ptsTypes="AAA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4154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B2F212A8-C7F4-46E6-DC30-14617C26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descr="nature-landscape-with-vegetation-flora.jpg" title="nature-landscape-with-vegetation-flora.jpg">
            <a:extLst>
              <a:ext uri="{FF2B5EF4-FFF2-40B4-BE49-F238E27FC236}">
                <a16:creationId xmlns:a16="http://schemas.microsoft.com/office/drawing/2014/main" id="{D05891A5-6D77-214F-15F9-8E1EBF62FED2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1728" r="11728"/>
          <a:stretch/>
        </p:blipFill>
        <p:spPr>
          <a:xfrm>
            <a:off x="5813313" y="1340888"/>
            <a:ext cx="2823739" cy="26482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9F369A52-F81E-EE29-9421-633CFE0BA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385" y="1740249"/>
            <a:ext cx="5402115" cy="1571751"/>
          </a:xfrm>
        </p:spPr>
        <p:txBody>
          <a:bodyPr/>
          <a:lstStyle/>
          <a:p>
            <a:r>
              <a:rPr lang="pt-BR" sz="4000" dirty="0">
                <a:solidFill>
                  <a:schemeClr val="accent1"/>
                </a:solidFill>
                <a:latin typeface="Times New Roman"/>
                <a:cs typeface="Times New Roman"/>
              </a:rPr>
              <a:t>Obrigado pelo seu tempo</a:t>
            </a:r>
            <a:endParaRPr lang="pt-B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232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99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99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863</Words>
  <Application>Microsoft Office PowerPoint</Application>
  <PresentationFormat>Apresentação na tela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Times New Roman</vt:lpstr>
      <vt:lpstr>Arial</vt:lpstr>
      <vt:lpstr>Raleway</vt:lpstr>
      <vt:lpstr>Arial,Sans-Serif</vt:lpstr>
      <vt:lpstr>Darker Grotesque SemiBold</vt:lpstr>
      <vt:lpstr>Hanken Grotesk</vt:lpstr>
      <vt:lpstr>VT323</vt:lpstr>
      <vt:lpstr>Roboto Mono</vt:lpstr>
      <vt:lpstr>My Presentation Template</vt:lpstr>
      <vt:lpstr> Apresentação sobre o Linux Mint</vt:lpstr>
      <vt:lpstr>Introdução e Filosofia do Sistema</vt:lpstr>
      <vt:lpstr>Histórico e Origem</vt:lpstr>
      <vt:lpstr>Evolução e Derivações (As Interfaces Gráficas)</vt:lpstr>
      <vt:lpstr>Evolução e Derivações (As Interfaces Gráficas)</vt:lpstr>
      <vt:lpstr>Principais Características e Ferramentas (Mint Tools)</vt:lpstr>
      <vt:lpstr>Principais Aplicações e Casos de Uso</vt:lpstr>
      <vt:lpstr>Vantagens</vt:lpstr>
      <vt:lpstr>Limitações </vt:lpstr>
      <vt:lpstr>Situação Atual e Evolução</vt:lpstr>
      <vt:lpstr>Obrigado pelo seu tempo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Apresentação sobre o Linux Mint</dc:title>
  <cp:lastModifiedBy>Fatec</cp:lastModifiedBy>
  <cp:revision>199</cp:revision>
  <dcterms:modified xsi:type="dcterms:W3CDTF">2026-09-14T12:52:04Z</dcterms:modified>
</cp:coreProperties>
</file>